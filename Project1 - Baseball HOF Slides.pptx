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embeddedFontLst>
    <p:embeddedFont>
      <p:font typeface="Play" panose="020B0604020202020204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iVcCwLHB0Kxip9UFDENV39zxpA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customschemas.google.com/relationships/presentationmetadata" Target="metadata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1" descr="Baseball Hall of Fame 2017: 'Small Hall' theory sounds nice, but isn't  realistic | Sporting News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20" y="1"/>
            <a:ext cx="1219198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"/>
          <p:cNvSpPr txBox="1">
            <a:spLocks noGrp="1"/>
          </p:cNvSpPr>
          <p:nvPr>
            <p:ph type="ctrTitle"/>
          </p:nvPr>
        </p:nvSpPr>
        <p:spPr>
          <a:xfrm>
            <a:off x="838199" y="1065862"/>
            <a:ext cx="6052955" cy="472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0"/>
              <a:buFont typeface="Times New Roman"/>
              <a:buNone/>
            </a:pPr>
            <a:r>
              <a:rPr lang="en-US" sz="8000">
                <a:latin typeface="Times New Roman"/>
                <a:ea typeface="Times New Roman"/>
                <a:cs typeface="Times New Roman"/>
                <a:sym typeface="Times New Roman"/>
              </a:rPr>
              <a:t>The Long Road to Cooperstown</a:t>
            </a:r>
            <a:br>
              <a:rPr lang="en-US" sz="8000"/>
            </a:br>
            <a:endParaRPr sz="8000"/>
          </a:p>
        </p:txBody>
      </p:sp>
      <p:cxnSp>
        <p:nvCxnSpPr>
          <p:cNvPr id="99" name="Google Shape;99;p1"/>
          <p:cNvCxnSpPr/>
          <p:nvPr/>
        </p:nvCxnSpPr>
        <p:spPr>
          <a:xfrm>
            <a:off x="7212899" y="2286000"/>
            <a:ext cx="0" cy="2286000"/>
          </a:xfrm>
          <a:prstGeom prst="straightConnector1">
            <a:avLst/>
          </a:prstGeom>
          <a:noFill/>
          <a:ln w="1587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00" name="Google Shape;100;p1"/>
          <p:cNvSpPr txBox="1">
            <a:spLocks noGrp="1"/>
          </p:cNvSpPr>
          <p:nvPr>
            <p:ph type="subTitle" idx="1"/>
          </p:nvPr>
        </p:nvSpPr>
        <p:spPr>
          <a:xfrm>
            <a:off x="7534641" y="1065862"/>
            <a:ext cx="3860002" cy="472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endParaRPr sz="2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127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 sz="2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Who conducts the voting?</a:t>
            </a:r>
            <a:endParaRPr/>
          </a:p>
          <a:p>
            <a:pPr marL="3429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selective is induction?</a:t>
            </a:r>
            <a:endParaRPr/>
          </a:p>
          <a:p>
            <a:pPr marL="3429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long can the journey take?</a:t>
            </a:r>
            <a:endParaRPr/>
          </a:p>
          <a:p>
            <a:pPr marL="3429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a player succeed without being inducted?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</a:pPr>
            <a:br>
              <a:rPr lang="en-US" sz="20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0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Stakeholders:</a:t>
            </a:r>
            <a:r>
              <a:rPr lang="en-US" sz="2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Baseball Historians, voters, journalists, and fans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3243483" y="4478156"/>
            <a:ext cx="3965069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Exploring Baseball Hall of Fame Voting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5798933" y="5724904"/>
            <a:ext cx="617728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000"/>
              <a:buFont typeface="Times New Roman"/>
              <a:buNone/>
            </a:pPr>
            <a:r>
              <a:rPr lang="en-US" sz="2000" b="1" i="0" u="none" strike="noStrike" cap="none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r>
              <a:rPr lang="en-US" sz="2000" b="0" i="0" u="none" strike="noStrike" cap="none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Prashant Aryal and Rubash Mali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-1" y="-4290"/>
            <a:ext cx="12192000" cy="173340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54000" dist="38100" dir="5460000" sx="94000" sy="94000" algn="t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>
            <a:spLocks noGrp="1"/>
          </p:cNvSpPr>
          <p:nvPr>
            <p:ph type="title"/>
          </p:nvPr>
        </p:nvSpPr>
        <p:spPr>
          <a:xfrm>
            <a:off x="761802" y="240241"/>
            <a:ext cx="10760054" cy="1228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Understanding the Hall of Fame Dataset</a:t>
            </a:r>
            <a:endParaRPr/>
          </a:p>
        </p:txBody>
      </p:sp>
      <p:sp>
        <p:nvSpPr>
          <p:cNvPr id="110" name="Google Shape;110;p2"/>
          <p:cNvSpPr txBox="1">
            <a:spLocks noGrp="1"/>
          </p:cNvSpPr>
          <p:nvPr>
            <p:ph type="body" idx="1"/>
          </p:nvPr>
        </p:nvSpPr>
        <p:spPr>
          <a:xfrm>
            <a:off x="670144" y="1949102"/>
            <a:ext cx="4864875" cy="4347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One Row Represents One Election-Year Record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4,191 Hall of Fame records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Each row represents one candidate in one election year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The same person may appear in several years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The dataset contains nine variables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Important fields: 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Candidate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Election year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Voting organization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Ballots and votes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Induction result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Professional category</a:t>
            </a:r>
            <a:endParaRPr dirty="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5815509" y="4552684"/>
            <a:ext cx="6096000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Figure1.</a:t>
            </a: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Sample Hall of Fame records. The same candidate may appear in multiple election years.   </a:t>
            </a:r>
            <a:b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2" name="Google Shape;11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66565" y="2486972"/>
            <a:ext cx="6782602" cy="1884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 txBox="1">
            <a:spLocks noGrp="1"/>
          </p:cNvSpPr>
          <p:nvPr>
            <p:ph type="title"/>
          </p:nvPr>
        </p:nvSpPr>
        <p:spPr>
          <a:xfrm>
            <a:off x="574547" y="917627"/>
            <a:ext cx="4541463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imes New Roman"/>
              <a:buNone/>
            </a:pPr>
            <a:r>
              <a:rPr lang="en-US" sz="4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Hall of Fame Records by Voting Organization</a:t>
            </a:r>
            <a:endParaRPr/>
          </a:p>
        </p:txBody>
      </p:sp>
      <p:sp>
        <p:nvSpPr>
          <p:cNvPr id="119" name="Google Shape;119;p3"/>
          <p:cNvSpPr txBox="1">
            <a:spLocks noGrp="1"/>
          </p:cNvSpPr>
          <p:nvPr>
            <p:ph type="body" idx="1"/>
          </p:nvPr>
        </p:nvSpPr>
        <p:spPr>
          <a:xfrm>
            <a:off x="722452" y="2393790"/>
            <a:ext cx="4499422" cy="3739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None/>
            </a:pPr>
            <a:r>
              <a:rPr lang="en-US" sz="2000" b="1" dirty="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How is HOF induction decided ?</a:t>
            </a:r>
            <a:endParaRPr sz="2000" dirty="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BBWAA: </a:t>
            </a:r>
            <a:r>
              <a:rPr lang="en-US" sz="2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3,756 records</a:t>
            </a:r>
            <a:endParaRPr sz="2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Approximately 89.6% of all records i.e. the BBWAA accounts for nearly nine out of every ten records in the dataset.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Veterans Committee: 193 records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 voting processes appear less frequently</a:t>
            </a:r>
            <a:endParaRPr dirty="0"/>
          </a:p>
        </p:txBody>
      </p:sp>
      <p:pic>
        <p:nvPicPr>
          <p:cNvPr id="120" name="Google Shape;12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21874" y="1102822"/>
            <a:ext cx="6713824" cy="373934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 txBox="1"/>
          <p:nvPr/>
        </p:nvSpPr>
        <p:spPr>
          <a:xfrm>
            <a:off x="5662612" y="5108846"/>
            <a:ext cx="609600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2. Number of Hall of Fame voting records by voting organization.</a:t>
            </a:r>
            <a:br>
              <a:rPr lang="en-US" sz="18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927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None/>
            </a:pPr>
            <a:r>
              <a:rPr lang="en-US" sz="3500" b="1">
                <a:latin typeface="Times New Roman"/>
                <a:ea typeface="Times New Roman"/>
                <a:cs typeface="Times New Roman"/>
                <a:sym typeface="Times New Roman"/>
              </a:rPr>
              <a:t>Successful and Unsuccessful Ballot Records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4"/>
          <p:cNvSpPr txBox="1">
            <a:spLocks noGrp="1"/>
          </p:cNvSpPr>
          <p:nvPr>
            <p:ph type="body" idx="1"/>
          </p:nvPr>
        </p:nvSpPr>
        <p:spPr>
          <a:xfrm>
            <a:off x="838200" y="1179248"/>
            <a:ext cx="10515600" cy="55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323 successful records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3,868 unsuccessful records 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Only 7.7% of all records resulted in induction 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Players represented 79.3% of successful induction records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Further investigation: Managers had the higher induction rate (3.28% vs. 1.33% for players)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8" name="Google Shape;12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1600" y="3133850"/>
            <a:ext cx="4480550" cy="318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46250" y="3350698"/>
            <a:ext cx="4893800" cy="28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4"/>
          <p:cNvSpPr txBox="1"/>
          <p:nvPr/>
        </p:nvSpPr>
        <p:spPr>
          <a:xfrm>
            <a:off x="681591" y="6218735"/>
            <a:ext cx="465433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3.</a:t>
            </a: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Number of successful and unsuccessful Hall of Fame records.</a:t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6096000" y="6260897"/>
            <a:ext cx="497599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4.</a:t>
            </a: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Successful induction records by professional category.</a:t>
            </a: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 txBox="1">
            <a:spLocks noGrp="1"/>
          </p:cNvSpPr>
          <p:nvPr>
            <p:ph type="title"/>
          </p:nvPr>
        </p:nvSpPr>
        <p:spPr>
          <a:xfrm>
            <a:off x="941019" y="679102"/>
            <a:ext cx="10066122" cy="129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Times New Roman"/>
              <a:buNone/>
            </a:pPr>
            <a:r>
              <a:rPr lang="en-US" sz="3700" b="1">
                <a:latin typeface="Times New Roman"/>
                <a:ea typeface="Times New Roman"/>
                <a:cs typeface="Times New Roman"/>
                <a:sym typeface="Times New Roman"/>
              </a:rPr>
              <a:t>Successful Candidates Follow Different Paths</a:t>
            </a:r>
            <a:endParaRPr sz="3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5"/>
          <p:cNvSpPr/>
          <p:nvPr/>
        </p:nvSpPr>
        <p:spPr>
          <a:xfrm rot="10800000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 txBox="1">
            <a:spLocks noGrp="1"/>
          </p:cNvSpPr>
          <p:nvPr>
            <p:ph type="body" idx="1"/>
          </p:nvPr>
        </p:nvSpPr>
        <p:spPr>
          <a:xfrm>
            <a:off x="793661" y="2599509"/>
            <a:ext cx="4530898" cy="3639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Among the 123 candidates inducted by the BBWAA: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52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had one recorded appearance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One appearance was the most common result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The median was 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three appearances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A small number had 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15 or more records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11112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10358" y="2256603"/>
            <a:ext cx="6287981" cy="311254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5"/>
          <p:cNvSpPr/>
          <p:nvPr/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"/>
          <p:cNvSpPr txBox="1"/>
          <p:nvPr/>
        </p:nvSpPr>
        <p:spPr>
          <a:xfrm>
            <a:off x="5974080" y="5421777"/>
            <a:ext cx="51816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6. </a:t>
            </a: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Distribution of Hall of Fame record counts for candidates who were eventually inducted by the BBWAA.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 txBox="1"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Times New Roman"/>
              <a:buNone/>
            </a:pPr>
            <a:r>
              <a:rPr lang="en-US" sz="4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Longest Successful Path</a:t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643278" y="2372868"/>
            <a:ext cx="3255095" cy="18288"/>
          </a:xfrm>
          <a:custGeom>
            <a:avLst/>
            <a:gdLst/>
            <a:ahLst/>
            <a:cxnLst/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Appeared in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 Hall of Fame election-year records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Highest count among the eventually inducted candidates</a:t>
            </a:r>
            <a:endParaRPr dirty="0"/>
          </a:p>
          <a:p>
            <a:pPr marL="3429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selected through the BBWAA records</a:t>
            </a:r>
            <a:endParaRPr dirty="0"/>
          </a:p>
          <a:p>
            <a:pPr marL="3429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Eventually inducted by the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Veterans Committee in 1962</a:t>
            </a:r>
            <a:b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Median successful path: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records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Longest successful path: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 records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2" name="Google Shape;152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27256" y="471915"/>
            <a:ext cx="3348709" cy="491211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 txBox="1"/>
          <p:nvPr/>
        </p:nvSpPr>
        <p:spPr>
          <a:xfrm>
            <a:off x="5465064" y="5594334"/>
            <a:ext cx="6096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1.</a:t>
            </a: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Candidates with the highest number of Hall of Fame election-year records before eventual induction.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 txBox="1">
            <a:spLocks noGrp="1"/>
          </p:cNvSpPr>
          <p:nvPr>
            <p:ph type="title"/>
          </p:nvPr>
        </p:nvSpPr>
        <p:spPr>
          <a:xfrm>
            <a:off x="779264" y="551689"/>
            <a:ext cx="10066122" cy="1064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A Long Wait Does Not Guarantee Induction</a:t>
            </a:r>
            <a:endParaRPr dirty="0"/>
          </a:p>
        </p:txBody>
      </p:sp>
      <p:sp>
        <p:nvSpPr>
          <p:cNvPr id="160" name="Google Shape;160;p7"/>
          <p:cNvSpPr/>
          <p:nvPr/>
        </p:nvSpPr>
        <p:spPr>
          <a:xfrm rot="10800000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-54700" y="2388754"/>
            <a:ext cx="11383500" cy="42681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69050" y="2343400"/>
            <a:ext cx="5248725" cy="335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7"/>
          <p:cNvSpPr/>
          <p:nvPr/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 txBox="1"/>
          <p:nvPr/>
        </p:nvSpPr>
        <p:spPr>
          <a:xfrm>
            <a:off x="5930950" y="6021525"/>
            <a:ext cx="5459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5.</a:t>
            </a: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Hank Gowdy’s recorded vote percentage by election year.</a:t>
            </a:r>
            <a:endParaRPr/>
          </a:p>
        </p:txBody>
      </p:sp>
      <p:sp>
        <p:nvSpPr>
          <p:cNvPr id="165" name="Google Shape;165;p7"/>
          <p:cNvSpPr txBox="1"/>
          <p:nvPr/>
        </p:nvSpPr>
        <p:spPr>
          <a:xfrm>
            <a:off x="143225" y="2305025"/>
            <a:ext cx="2937101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Hank Gowdy’s voting history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 Hall of Fame election-year records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Highest record count among the never-inducted candidates examined</a:t>
            </a:r>
            <a:endParaRPr sz="1200" dirty="0"/>
          </a:p>
          <a:p>
            <a:pPr marL="3429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Highest displayed support: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35.9%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Threshold shown in the chart: approximately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75%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6" name="Google Shape;166;p7" title="tttttttt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4225" y="1998375"/>
            <a:ext cx="2518100" cy="386542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7"/>
          <p:cNvSpPr txBox="1"/>
          <p:nvPr/>
        </p:nvSpPr>
        <p:spPr>
          <a:xfrm>
            <a:off x="1823425" y="6021525"/>
            <a:ext cx="5459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2</a:t>
            </a:r>
            <a:r>
              <a:rPr lang="en-US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Never-inducted candidates by times on ballot.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 txBox="1"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None/>
            </a:pPr>
            <a:r>
              <a:rPr lang="en-US" sz="2500" b="1" dirty="0">
                <a:latin typeface="Times New Roman"/>
                <a:ea typeface="Times New Roman"/>
                <a:cs typeface="Times New Roman"/>
                <a:sym typeface="Times New Roman"/>
              </a:rPr>
              <a:t>Which Never-Inducted Players Had Salary Data?</a:t>
            </a:r>
            <a:endParaRPr sz="25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8"/>
          <p:cNvSpPr/>
          <p:nvPr/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 txBox="1">
            <a:spLocks noGrp="1"/>
          </p:cNvSpPr>
          <p:nvPr>
            <p:ph type="body" idx="1"/>
          </p:nvPr>
        </p:nvSpPr>
        <p:spPr>
          <a:xfrm>
            <a:off x="645066" y="2031101"/>
            <a:ext cx="4282984" cy="3511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We examined </a:t>
            </a: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15 frequently considered candidates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who were never inducted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salary dataset covers </a:t>
            </a: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1985 to 2016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Only four candidates had available salary records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Don Mattingly had the best coverage, with </a:t>
            </a: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11 recorded seasons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8"/>
          <p:cNvSpPr/>
          <p:nvPr/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8"/>
          <p:cNvSpPr/>
          <p:nvPr/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5732875" y="218775"/>
            <a:ext cx="4651800" cy="56268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32875" y="218775"/>
            <a:ext cx="4651800" cy="495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8"/>
          <p:cNvSpPr txBox="1"/>
          <p:nvPr/>
        </p:nvSpPr>
        <p:spPr>
          <a:xfrm>
            <a:off x="5647258" y="5453832"/>
            <a:ext cx="6096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3.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Salary-data availability for never-inducted candidates.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9"/>
          <p:cNvSpPr txBox="1"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b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Financial Recognition Without Induction</a:t>
            </a:r>
            <a:b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 Career Can Be Valued Without Hall of Fame Induction</a:t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643278" y="2573756"/>
            <a:ext cx="3255095" cy="18288"/>
          </a:xfrm>
          <a:custGeom>
            <a:avLst/>
            <a:gdLst/>
            <a:ahLst/>
            <a:cxnLst/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54296" y="1642663"/>
            <a:ext cx="6903720" cy="3572674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9"/>
          <p:cNvSpPr txBox="1"/>
          <p:nvPr/>
        </p:nvSpPr>
        <p:spPr>
          <a:xfrm>
            <a:off x="5598160" y="5285052"/>
            <a:ext cx="6096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7.</a:t>
            </a: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Don Mattingly’s recorded annual salary compared with the MLB mean from 1985 through 1995. </a:t>
            </a:r>
            <a:endParaRPr/>
          </a:p>
        </p:txBody>
      </p:sp>
      <p:sp>
        <p:nvSpPr>
          <p:cNvPr id="190" name="Google Shape;190;p9"/>
          <p:cNvSpPr txBox="1"/>
          <p:nvPr/>
        </p:nvSpPr>
        <p:spPr>
          <a:xfrm>
            <a:off x="630936" y="2873366"/>
            <a:ext cx="4023360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 Mattingly’s salary compared with the MLB mean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 recorded seasons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from 1985 to 1995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Salary increased from approximately </a:t>
            </a: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$455,000 to $4.42 million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Salary was above the MLB mean during much of the displayed period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inducted in the Hall of Fame records examined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p10" descr="Baseball Hall of Fame on deck to open again"/>
          <p:cNvPicPr preferRelativeResize="0"/>
          <p:nvPr/>
        </p:nvPicPr>
        <p:blipFill rotWithShape="1">
          <a:blip r:embed="rId3">
            <a:alphaModFix amt="40000"/>
          </a:blip>
          <a:srcRect/>
          <a:stretch/>
        </p:blipFill>
        <p:spPr>
          <a:xfrm>
            <a:off x="20" y="10"/>
            <a:ext cx="12191979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0"/>
          <p:cNvSpPr txBox="1">
            <a:spLocks noGrp="1"/>
          </p:cNvSpPr>
          <p:nvPr>
            <p:ph type="title"/>
          </p:nvPr>
        </p:nvSpPr>
        <p:spPr>
          <a:xfrm>
            <a:off x="841249" y="941832"/>
            <a:ext cx="10506456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Times New Roman"/>
              <a:buNone/>
            </a:pPr>
            <a:r>
              <a:rPr lang="en-US" sz="5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 txBox="1">
            <a:spLocks noGrp="1"/>
          </p:cNvSpPr>
          <p:nvPr>
            <p:ph type="body" idx="1"/>
          </p:nvPr>
        </p:nvSpPr>
        <p:spPr>
          <a:xfrm>
            <a:off x="841248" y="3502152"/>
            <a:ext cx="10506456" cy="2670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Four Lessons from the Data</a:t>
            </a:r>
            <a:endParaRPr/>
          </a:p>
          <a:p>
            <a:pPr marL="854075" lvl="0" indent="-508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AutoNum type="arabicPeriod"/>
            </a:pPr>
            <a:r>
              <a:rPr lang="en-US" sz="2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BBWAA contributed most of the voting records.</a:t>
            </a:r>
            <a:endParaRPr/>
          </a:p>
          <a:p>
            <a:pPr marL="854075" lvl="0" indent="-508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AutoNum type="arabicPeriod"/>
            </a:pPr>
            <a:r>
              <a:rPr lang="en-US" sz="2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ballot records did not result in induction.</a:t>
            </a:r>
            <a:endParaRPr/>
          </a:p>
          <a:p>
            <a:pPr marL="854075" lvl="0" indent="-508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AutoNum type="arabicPeriod"/>
            </a:pPr>
            <a:r>
              <a:rPr lang="en-US" sz="2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candidates were inducted quickly, while others waited many years.</a:t>
            </a:r>
            <a:endParaRPr/>
          </a:p>
          <a:p>
            <a:pPr marL="854075" lvl="0" indent="-508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AutoNum type="arabicPeriod"/>
            </a:pPr>
            <a:r>
              <a:rPr lang="en-US" sz="2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long voting history did not guarantee induction.</a:t>
            </a:r>
            <a:endParaRPr/>
          </a:p>
          <a:p>
            <a:pPr marL="854075" lvl="0" indent="-508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AutoNum type="arabicPeriod"/>
            </a:pPr>
            <a:r>
              <a:rPr lang="en-US" sz="2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Financial compensation offered another form of career recognition.</a:t>
            </a:r>
            <a:endParaRPr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643</Words>
  <Application>Microsoft Office PowerPoint</Application>
  <PresentationFormat>Widescreen</PresentationFormat>
  <Paragraphs>82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Noto Sans Symbols</vt:lpstr>
      <vt:lpstr>Play</vt:lpstr>
      <vt:lpstr>Calibri</vt:lpstr>
      <vt:lpstr>Times New Roman</vt:lpstr>
      <vt:lpstr>Office Theme</vt:lpstr>
      <vt:lpstr>Office Theme</vt:lpstr>
      <vt:lpstr>The Long Road to Cooperstown </vt:lpstr>
      <vt:lpstr>Understanding the Hall of Fame Dataset</vt:lpstr>
      <vt:lpstr>Hall of Fame Records by Voting Organization</vt:lpstr>
      <vt:lpstr>Successful and Unsuccessful Ballot Records</vt:lpstr>
      <vt:lpstr>Successful Candidates Follow Different Paths</vt:lpstr>
      <vt:lpstr>The Longest Successful Path</vt:lpstr>
      <vt:lpstr>A Long Wait Does Not Guarantee Induction</vt:lpstr>
      <vt:lpstr>Which Never-Inducted Players Had Salary Data?</vt:lpstr>
      <vt:lpstr> Financial Recognition Without Induction  A Career Can Be Valued Without Hall of Fame Induction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PRASHANT ARYAL</dc:creator>
  <cp:lastModifiedBy>PRASHANT ARYAL</cp:lastModifiedBy>
  <cp:revision>1</cp:revision>
  <dcterms:created xsi:type="dcterms:W3CDTF">2026-09-13T21:02:30Z</dcterms:created>
  <dcterms:modified xsi:type="dcterms:W3CDTF">2026-09-14T18:32:12Z</dcterms:modified>
</cp:coreProperties>
</file>